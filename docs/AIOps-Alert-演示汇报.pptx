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开场讲法：这是一个已经能跑通完整闭环的 AI 原生监控告警 Demo。先强调不是单点 AI，而是贯穿规则、事件、通知和复盘。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讲这一页时重点回应两个问题：通知失败是因为占位配置真实发送，现在演示模式改为 dryRun 成功；思考中是异步事务时序问题，现在改为提交后再触发摘要，并保留重新生成。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收尾：接下来最关键是两件事，DeepSeek Key 配置和公网访问方式确定。临时演示用 quick tunnel；固定地址需要 Cloudflare 域名或云服务器。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 w="12700">
            <a:solidFill>
              <a:srgbClr val="080B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9D2FF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1080000">
            <a:off x="9966960" y="-1005840"/>
            <a:ext cx="3108960" cy="3108960"/>
          </a:xfrm>
          <a:prstGeom prst="arc">
            <a:avLst/>
          </a:prstGeom>
          <a:solidFill>
            <a:srgbClr val="080B12">
              <a:alpha val="0"/>
            </a:srgbClr>
          </a:solidFill>
          <a:ln w="15240">
            <a:solidFill>
              <a:srgbClr val="1BB7D7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PROGRAMMING PRACTICE · DELIVERY REPORT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1264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</a:rPr>
              <a:t>AIOps Alert 智能监控告警系统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D"/>
                </a:solidFill>
              </a:rPr>
              <a:t>从监控异常到 AI 摘要、通知、处理、复盘的一体化演示闭环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536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D"/>
                </a:solidFill>
              </a:rPr>
              <a:t>课题名称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1755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</a:rPr>
              <a:t>AI 原生监控告警平台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D"/>
                </a:solidFill>
              </a:rPr>
              <a:t>当前状态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246888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162232"/>
          </a:solidFill>
          <a:ln w="10160">
            <a:solidFill>
              <a:srgbClr val="28D7A3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76656" y="255117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8D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已跑通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246888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62232"/>
          </a:solidFill>
          <a:ln w="10160">
            <a:solidFill>
              <a:srgbClr val="69D2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029968" y="2551176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9D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前后端已验证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2907792"/>
            <a:ext cx="1874520" cy="320040"/>
          </a:xfrm>
          <a:prstGeom prst="roundRect">
            <a:avLst>
              <a:gd name="adj" fmla="val 17143"/>
            </a:avLst>
          </a:prstGeom>
          <a:solidFill>
            <a:srgbClr val="162232"/>
          </a:solidFill>
          <a:ln w="10160">
            <a:solidFill>
              <a:srgbClr val="FFB020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6656" y="2990088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B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预设已更新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3429000"/>
            <a:ext cx="1508760" cy="566928"/>
          </a:xfrm>
          <a:prstGeom prst="roundRect">
            <a:avLst>
              <a:gd name="adj" fmla="val 8065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6656" y="353872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9D2FF"/>
                </a:solidFill>
              </a:rPr>
              <a:t>62/62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6656" y="380390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8BD"/>
                </a:solidFill>
              </a:rPr>
              <a:t>API 读接口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58568" y="3429000"/>
            <a:ext cx="1508760" cy="566928"/>
          </a:xfrm>
          <a:prstGeom prst="roundRect">
            <a:avLst>
              <a:gd name="adj" fmla="val 8065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368296" y="353872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9D2FF"/>
                </a:solidFill>
              </a:rPr>
              <a:t>25/25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368296" y="380390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8BD"/>
                </a:solidFill>
              </a:rPr>
              <a:t>写入流程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" y="4187952"/>
            <a:ext cx="1508760" cy="566928"/>
          </a:xfrm>
          <a:prstGeom prst="roundRect">
            <a:avLst>
              <a:gd name="adj" fmla="val 8065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6656" y="42976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9D2FF"/>
                </a:solidFill>
              </a:rPr>
              <a:t>57/57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76656" y="456285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8BD"/>
                </a:solidFill>
              </a:rPr>
              <a:t>UI 静态检查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58568" y="4187952"/>
            <a:ext cx="1508760" cy="566928"/>
          </a:xfrm>
          <a:prstGeom prst="roundRect">
            <a:avLst>
              <a:gd name="adj" fmla="val 8065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368296" y="42976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9D2FF"/>
                </a:solidFill>
              </a:rPr>
              <a:t>34/34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368296" y="456285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8BD"/>
                </a:solidFill>
              </a:rPr>
              <a:t>E2E 流程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251960" y="1234440"/>
            <a:ext cx="7315200" cy="5138928"/>
          </a:xfrm>
          <a:prstGeom prst="roundRect">
            <a:avLst>
              <a:gd name="adj" fmla="val 1423"/>
            </a:avLst>
          </a:prstGeom>
          <a:solidFill>
            <a:srgbClr val="00000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pic>
        <p:nvPicPr>
          <p:cNvPr id="30" name="Image 0" descr="D:/tjap/monitoring-alert/aiops-alert/test-scripts/01-dashboar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325880"/>
            <a:ext cx="7132320" cy="446227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434840" y="5971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· AI Brief · NOC 视图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 w="12700">
            <a:solidFill>
              <a:srgbClr val="080B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9D2FF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1080000">
            <a:off x="9966960" y="-1005840"/>
            <a:ext cx="3108960" cy="3108960"/>
          </a:xfrm>
          <a:prstGeom prst="arc">
            <a:avLst/>
          </a:prstGeom>
          <a:solidFill>
            <a:srgbClr val="080B12">
              <a:alpha val="0"/>
            </a:srgbClr>
          </a:solidFill>
          <a:ln w="15240">
            <a:solidFill>
              <a:srgbClr val="1BB7D7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PAIN POINTS · VALUE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1264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</a:rPr>
              <a:t>传统告警的问题，用 AI 串成闭环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D"/>
                </a:solidFill>
              </a:rPr>
              <a:t>普通监控系统只负责报错；这个 Demo 进一步说明原因、建议动作，并把通知与复盘做成可演示流程。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2788920" cy="1325880"/>
          </a:xfrm>
          <a:prstGeom prst="roundRect">
            <a:avLst>
              <a:gd name="adj" fmla="val 4828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417320"/>
            <a:ext cx="36576" cy="132588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" y="1581912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5C7A"/>
                </a:solidFill>
              </a:rPr>
              <a:t>痛点 1：告警多但上下文少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" y="1892808"/>
            <a:ext cx="24597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F4F8FF"/>
                </a:solidFill>
              </a:rPr>
              <a:t>只知道 CPU 高、延迟高，不知道可能原因和下一步动作</a:t>
            </a:r>
            <a:endParaRPr lang="en-US" sz="920" dirty="0"/>
          </a:p>
          <a:p>
            <a:r>
              <a:rPr lang="en-US" sz="920" dirty="0">
                <a:solidFill>
                  <a:srgbClr val="F4F8FF"/>
                </a:solidFill>
              </a:rPr>
              <a:t>排障依赖人工经验，交接成本高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2788920" cy="1325880"/>
          </a:xfrm>
          <a:prstGeom prst="roundRect">
            <a:avLst>
              <a:gd name="adj" fmla="val 4828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" y="2907792"/>
            <a:ext cx="36576" cy="13258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7512" y="3072384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</a:rPr>
              <a:t>痛点 2：规则配置门槛高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" y="3383280"/>
            <a:ext cx="24597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F4F8FF"/>
                </a:solidFill>
              </a:rPr>
              <a:t>规则字段多，指标口径难统一</a:t>
            </a:r>
            <a:endParaRPr lang="en-US" sz="920" dirty="0"/>
          </a:p>
          <a:p>
            <a:r>
              <a:rPr lang="en-US" sz="920" dirty="0">
                <a:solidFill>
                  <a:srgbClr val="F4F8FF"/>
                </a:solidFill>
              </a:rPr>
              <a:t>新业务接入慢，容易漏配通知渠道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2920" y="4407408"/>
            <a:ext cx="2788920" cy="1325880"/>
          </a:xfrm>
          <a:prstGeom prst="roundRect">
            <a:avLst>
              <a:gd name="adj" fmla="val 4828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4407408"/>
            <a:ext cx="36576" cy="1325880"/>
          </a:xfrm>
          <a:prstGeom prst="rect">
            <a:avLst/>
          </a:prstGeom>
          <a:solidFill>
            <a:srgbClr val="69D2FF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7512" y="4572000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9D2FF"/>
                </a:solidFill>
              </a:rPr>
              <a:t>痛点 3：AI 本身不可观测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" y="4882896"/>
            <a:ext cx="24597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F4F8FF"/>
                </a:solidFill>
              </a:rPr>
              <a:t>调用失败、慢调用、成本不可见</a:t>
            </a:r>
            <a:endParaRPr lang="en-US" sz="920" dirty="0"/>
          </a:p>
          <a:p>
            <a:r>
              <a:rPr lang="en-US" sz="920" dirty="0">
                <a:solidFill>
                  <a:srgbClr val="F4F8FF"/>
                </a:solidFill>
              </a:rPr>
              <a:t>无法判断模型是否稳定适合演示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657600" y="1417320"/>
            <a:ext cx="3822192" cy="2331720"/>
          </a:xfrm>
          <a:prstGeom prst="roundRect">
            <a:avLst>
              <a:gd name="adj" fmla="val 3137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58768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AI 改造后的闭环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86200" y="2139696"/>
            <a:ext cx="438912" cy="438912"/>
          </a:xfrm>
          <a:prstGeom prst="ellipse">
            <a:avLst/>
          </a:prstGeom>
          <a:solidFill>
            <a:srgbClr val="162232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023360" y="22402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D2FF"/>
                </a:solidFill>
              </a:rPr>
              <a:t>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43400" y="2359152"/>
            <a:ext cx="228600" cy="0"/>
          </a:xfrm>
          <a:prstGeom prst="line">
            <a:avLst/>
          </a:prstGeom>
          <a:noFill/>
          <a:ln w="17780">
            <a:solidFill>
              <a:srgbClr val="22324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767328" y="269748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8FF"/>
                </a:solidFill>
              </a:rPr>
              <a:t>监控对象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44568" y="2139696"/>
            <a:ext cx="438912" cy="438912"/>
          </a:xfrm>
          <a:prstGeom prst="ellipse">
            <a:avLst/>
          </a:prstGeom>
          <a:solidFill>
            <a:srgbClr val="162232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81728" y="22402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D2FF"/>
                </a:solidFill>
              </a:rPr>
              <a:t>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01768" y="2359152"/>
            <a:ext cx="228600" cy="0"/>
          </a:xfrm>
          <a:prstGeom prst="line">
            <a:avLst/>
          </a:prstGeom>
          <a:noFill/>
          <a:ln w="17780">
            <a:solidFill>
              <a:srgbClr val="22324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25696" y="269748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8FF"/>
                </a:solidFill>
              </a:rPr>
              <a:t>规则命中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02936" y="2139696"/>
            <a:ext cx="438912" cy="438912"/>
          </a:xfrm>
          <a:prstGeom prst="ellipse">
            <a:avLst/>
          </a:prstGeom>
          <a:solidFill>
            <a:srgbClr val="69D2FF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40096" y="22402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0B12"/>
                </a:solidFill>
              </a:rPr>
              <a:t>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0136" y="2359152"/>
            <a:ext cx="228600" cy="0"/>
          </a:xfrm>
          <a:prstGeom prst="line">
            <a:avLst/>
          </a:prstGeom>
          <a:noFill/>
          <a:ln w="17780">
            <a:solidFill>
              <a:srgbClr val="22324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84064" y="269748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8FF"/>
                </a:solidFill>
              </a:rPr>
              <a:t>AI 摘要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861304" y="2139696"/>
            <a:ext cx="438912" cy="438912"/>
          </a:xfrm>
          <a:prstGeom prst="ellipse">
            <a:avLst/>
          </a:prstGeom>
          <a:solidFill>
            <a:srgbClr val="162232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998464" y="22402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D2FF"/>
                </a:solidFill>
              </a:rPr>
              <a:t>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18504" y="2359152"/>
            <a:ext cx="228600" cy="0"/>
          </a:xfrm>
          <a:prstGeom prst="line">
            <a:avLst/>
          </a:prstGeom>
          <a:noFill/>
          <a:ln w="17780">
            <a:solidFill>
              <a:srgbClr val="22324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742432" y="269748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8FF"/>
                </a:solidFill>
              </a:rPr>
              <a:t>dryRun 通知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519672" y="2139696"/>
            <a:ext cx="438912" cy="438912"/>
          </a:xfrm>
          <a:prstGeom prst="ellipse">
            <a:avLst/>
          </a:prstGeom>
          <a:solidFill>
            <a:srgbClr val="162232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656832" y="22402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D2FF"/>
                </a:solidFill>
              </a:rPr>
              <a:t>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0" y="269748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8FF"/>
                </a:solidFill>
              </a:rPr>
              <a:t>处理复盘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886200" y="32461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19">
                <a:solidFill>
                  <a:srgbClr val="28D7A3"/>
                </a:solidFill>
                <a:latin typeface="Microsoft YaHei"/>
              </a:rPr>
              <a:t>dryRun 演示：企微、邮件、短信均显示成功，不真实发送。</a:t>
            </a:r>
          </a:p>
        </p:txBody>
      </p:sp>
      <p:sp>
        <p:nvSpPr>
          <p:cNvPr id="42" name="Shape 40"/>
          <p:cNvSpPr/>
          <p:nvPr/>
        </p:nvSpPr>
        <p:spPr>
          <a:xfrm>
            <a:off x="7726680" y="1325880"/>
            <a:ext cx="3977640" cy="1993392"/>
          </a:xfrm>
          <a:prstGeom prst="roundRect">
            <a:avLst>
              <a:gd name="adj" fmla="val 3670"/>
            </a:avLst>
          </a:prstGeom>
          <a:solidFill>
            <a:srgbClr val="00000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pic>
        <p:nvPicPr>
          <p:cNvPr id="43" name="Image 0" descr="D:/tjap/monitoring-alert/aiops-alert/docs/assets/events-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2" y="1399032"/>
            <a:ext cx="3822192" cy="1700784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7818120" y="3127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 · AI 摘要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7726680" y="3639312"/>
            <a:ext cx="3977640" cy="2029968"/>
          </a:xfrm>
          <a:prstGeom prst="roundRect">
            <a:avLst>
              <a:gd name="adj" fmla="val 3604"/>
            </a:avLst>
          </a:prstGeom>
          <a:solidFill>
            <a:srgbClr val="00000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pic>
        <p:nvPicPr>
          <p:cNvPr id="46" name="Image 1" descr="D:/tjap/monitoring-alert/aiops-alert/docs/assets/channels-dryrun-cur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3712464"/>
            <a:ext cx="3822192" cy="173736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7818120" y="5486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 · dryRun 演示成功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 w="12700">
            <a:solidFill>
              <a:srgbClr val="080B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9D2FF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1080000">
            <a:off x="9966960" y="-1005840"/>
            <a:ext cx="3108960" cy="3108960"/>
          </a:xfrm>
          <a:prstGeom prst="arc">
            <a:avLst/>
          </a:prstGeom>
          <a:solidFill>
            <a:srgbClr val="080B12">
              <a:alpha val="0"/>
            </a:srgbClr>
          </a:solidFill>
          <a:ln w="15240">
            <a:solidFill>
              <a:srgbClr val="1BB7D7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ARCHITECTURE · DEMO PATH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1264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</a:rPr>
              <a:t>技术方案与下一步落地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D"/>
                </a:solidFill>
              </a:rPr>
              <a:t>Vue 前端、Spring Boot 后端、OpenAI 兼容 LLM、H2/MySQL 数据层，支持本机演示和公网临时访问。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101620"/>
          </a:solidFill>
          <a:ln w="12700">
            <a:solidFill>
              <a:srgbClr val="69D2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86384" y="15453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9D2FF"/>
                </a:solidFill>
              </a:rPr>
              <a:t>前端体验层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84832" y="1527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4F8FF"/>
                </a:solidFill>
              </a:rPr>
              <a:t>Vue 3 / Vite / ECharts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4F8FF"/>
                </a:solidFill>
              </a:rPr>
              <a:t>Dashboard · Events · Rules · AI Stats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 rot="5400000">
            <a:off x="2212848" y="2185416"/>
            <a:ext cx="256032" cy="182880"/>
          </a:xfrm>
          <a:prstGeom prst="chevron">
            <a:avLst/>
          </a:prstGeom>
          <a:solidFill>
            <a:srgbClr val="223247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" y="242316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101620"/>
          </a:solidFill>
          <a:ln w="12700">
            <a:solidFill>
              <a:srgbClr val="28D7A3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86384" y="25511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D7A3"/>
                </a:solidFill>
              </a:rPr>
              <a:t>业务编排层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84832" y="25328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4F8FF"/>
                </a:solidFill>
              </a:rPr>
              <a:t>Spring Boot / MyBatis Plus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4F8FF"/>
                </a:solidFill>
              </a:rPr>
              <a:t>告警事件 · 规则 · 通知 · 故障组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 rot="5400000">
            <a:off x="2212848" y="3191256"/>
            <a:ext cx="256032" cy="182880"/>
          </a:xfrm>
          <a:prstGeom prst="chevron">
            <a:avLst/>
          </a:prstGeom>
          <a:solidFill>
            <a:srgbClr val="223247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6928" y="342900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101620"/>
          </a:solidFill>
          <a:ln w="12700">
            <a:solidFill>
              <a:srgbClr val="FFB020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86384" y="355701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</a:rPr>
              <a:t>AI 能力层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84832" y="35387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4F8FF"/>
                </a:solidFill>
              </a:rPr>
              <a:t>OpenAI 兼容协议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4F8FF"/>
                </a:solidFill>
              </a:rPr>
              <a:t>DeepSeek V4 Flash / Pro · GLM · Qwen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 rot="5400000">
            <a:off x="2212848" y="4197096"/>
            <a:ext cx="256032" cy="182880"/>
          </a:xfrm>
          <a:prstGeom prst="chevron">
            <a:avLst/>
          </a:prstGeom>
          <a:solidFill>
            <a:srgbClr val="223247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66928" y="443484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101620"/>
          </a:solidFill>
          <a:ln w="12700">
            <a:solidFill>
              <a:srgbClr val="FF5C7A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384" y="45628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C7A"/>
                </a:solidFill>
              </a:rPr>
              <a:t>数据与演示层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084832" y="4544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4F8FF"/>
                </a:solidFill>
              </a:rPr>
              <a:t>H2 演示库 / MySQL 生产库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4F8FF"/>
                </a:solidFill>
              </a:rPr>
              <a:t>模拟指标 · 历史数据 · dryRun 通知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2971800" cy="4370832"/>
          </a:xfrm>
          <a:prstGeom prst="roundRect">
            <a:avLst>
              <a:gd name="adj" fmla="val 2462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83480" y="16459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推荐演示路径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92624" y="20848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62232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84064" y="216712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9D2FF"/>
                </a:solidFill>
              </a:rPr>
              <a:t>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40680" y="21579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8FF"/>
                </a:solidFill>
              </a:rPr>
              <a:t>总览大屏看态势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992624" y="267919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62232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084064" y="276148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9D2FF"/>
                </a:solidFill>
              </a:rPr>
              <a:t>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440680" y="275234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8FF"/>
                </a:solidFill>
              </a:rPr>
              <a:t>触发一条告警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992624" y="327355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69D2FF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84064" y="335584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0B12"/>
                </a:solidFill>
              </a:rPr>
              <a:t>3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40680" y="334670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8FF"/>
                </a:solidFill>
              </a:rPr>
              <a:t>查看 AI 摘要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992624" y="386791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62232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084064" y="395020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9D2FF"/>
                </a:solidFill>
              </a:rPr>
              <a:t>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40680" y="39410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8FF"/>
                </a:solidFill>
              </a:rPr>
              <a:t>AI 生成告警规则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992624" y="446227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62232"/>
          </a:solidFill>
          <a:ln w="12700">
            <a:solidFill>
              <a:srgbClr val="69D2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84064" y="45445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9D2FF"/>
                </a:solidFill>
              </a:rPr>
              <a:t>5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40680" y="453542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8FF"/>
                </a:solidFill>
              </a:rPr>
              <a:t>AI 调用统计复盘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4983480" y="52578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AA8BD"/>
                </a:solidFill>
              </a:rPr>
              <a:t>公网演示：本机 build + preview，再用 Cloudflare Tunnel 暴露 4173。固定地址建议用命名隧道。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028432" y="132588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00000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pic>
        <p:nvPicPr>
          <p:cNvPr id="42" name="Image 0" descr="D:/tjap/monitoring-alert/aiops-alert/docs/assets/ai-stats-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399032"/>
            <a:ext cx="3557016" cy="2542032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8119872" y="39593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Stats · 成本 / 成功率 / 慢调用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8028432" y="457200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101620"/>
          </a:solidFill>
          <a:ln w="12700">
            <a:solidFill>
              <a:srgbClr val="FFB02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8138160" y="47183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B020"/>
                </a:solidFill>
              </a:rPr>
              <a:t>DeepSeek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138160" y="4974336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4F8FF"/>
                </a:solidFill>
              </a:rPr>
              <a:t>填入 API Key，先测 V4 Flash 稳定性</a:t>
            </a:r>
            <a:endParaRPr lang="en-US" sz="680" dirty="0"/>
          </a:p>
        </p:txBody>
      </p:sp>
      <p:sp>
        <p:nvSpPr>
          <p:cNvPr id="47" name="Shape 44"/>
          <p:cNvSpPr/>
          <p:nvPr/>
        </p:nvSpPr>
        <p:spPr>
          <a:xfrm>
            <a:off x="9262872" y="457200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9372600" y="47183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9D2FF"/>
                </a:solidFill>
              </a:rPr>
              <a:t>公网地址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9372600" y="4974336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4F8FF"/>
                </a:solidFill>
              </a:rPr>
              <a:t>确认临时链接或绑定 Cloudflare 域名</a:t>
            </a:r>
            <a:endParaRPr lang="en-US" sz="680" dirty="0"/>
          </a:p>
        </p:txBody>
      </p:sp>
      <p:sp>
        <p:nvSpPr>
          <p:cNvPr id="50" name="Shape 47"/>
          <p:cNvSpPr/>
          <p:nvPr/>
        </p:nvSpPr>
        <p:spPr>
          <a:xfrm>
            <a:off x="10497312" y="457200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101620"/>
          </a:solidFill>
          <a:ln w="12700">
            <a:solidFill>
              <a:srgbClr val="223247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10607040" y="47183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9D2FF"/>
                </a:solidFill>
              </a:rPr>
              <a:t>汇报材料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607040" y="4974336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4F8FF"/>
                </a:solidFill>
              </a:rPr>
              <a:t>用本 PPT + 短版操作指南演示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东方金信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Alert 智能监控告警系统演示汇报</dc:title>
  <dc:subject>AI 编程实战课题演示汇报</dc:subject>
  <dc:creator>AIOps Alert</dc:creator>
  <cp:lastModifiedBy>AIOps Alert</cp:lastModifiedBy>
  <cp:revision>1</cp:revision>
  <dcterms:created xsi:type="dcterms:W3CDTF">2026-05-27T05:27:54Z</dcterms:created>
  <dcterms:modified xsi:type="dcterms:W3CDTF">2026-05-27T05:27:54Z</dcterms:modified>
</cp:coreProperties>
</file>